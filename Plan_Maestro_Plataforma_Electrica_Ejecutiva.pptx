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dustrial_scene_with_a_strong_d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02412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NÓMICA Electrical Cloud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21792" y="1664208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8E9F6"/>
                </a:solidFill>
              </a:rPr>
              <a:t>Plataforma ejecutiva para diseño, cálculo, validación y documentación de instalaciones eléctricas industriales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21792" y="2743200"/>
            <a:ext cx="2240280" cy="329184"/>
          </a:xfrm>
          <a:prstGeom prst="roundRect">
            <a:avLst>
              <a:gd name="adj" fmla="val 19444"/>
            </a:avLst>
          </a:prstGeom>
          <a:solidFill>
            <a:srgbClr val="F5A623">
              <a:alpha val="9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94944" y="2825496"/>
            <a:ext cx="209397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iPhone · iPad · Mac · Web</a:t>
            </a:r>
            <a:endParaRPr lang="en-US" sz="760" dirty="0"/>
          </a:p>
        </p:txBody>
      </p:sp>
      <p:sp>
        <p:nvSpPr>
          <p:cNvPr id="7" name="Shape 4"/>
          <p:cNvSpPr/>
          <p:nvPr/>
        </p:nvSpPr>
        <p:spPr>
          <a:xfrm>
            <a:off x="3017520" y="2743200"/>
            <a:ext cx="1737360" cy="329184"/>
          </a:xfrm>
          <a:prstGeom prst="roundRect">
            <a:avLst>
              <a:gd name="adj" fmla="val 19444"/>
            </a:avLst>
          </a:prstGeom>
          <a:solidFill>
            <a:srgbClr val="25C6FF">
              <a:alpha val="95000"/>
            </a:srgbClr>
          </a:solidFill>
          <a:ln w="12700">
            <a:solidFill>
              <a:srgbClr val="25C6FF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0672" y="2825496"/>
            <a:ext cx="159105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NOM · IA · Cloud</a:t>
            </a:r>
            <a:endParaRPr lang="en-US" sz="760" dirty="0"/>
          </a:p>
        </p:txBody>
      </p:sp>
      <p:sp>
        <p:nvSpPr>
          <p:cNvPr id="9" name="Text 6"/>
          <p:cNvSpPr/>
          <p:nvPr/>
        </p:nvSpPr>
        <p:spPr>
          <a:xfrm>
            <a:off x="621792" y="635508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5ABC1"/>
                </a:solidFill>
              </a:rPr>
              <a:t>Tema electricidad industrial · México y LATAM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Tesis ejecutiva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De hoja de cálculo fragmentada a plataforma profesional trazable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30–60%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193852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9F6"/>
                </a:solidFill>
              </a:rPr>
              <a:t>reducción potencial de tiempo en memorias y retrabajos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3063240" y="1463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1 flujo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063240" y="19385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9F6"/>
                </a:solidFill>
              </a:rPr>
              <a:t>cálculo, cumplimiento, diagramas, reportes y control documental</a:t>
            </a:r>
            <a:endParaRPr lang="en-US" sz="880" dirty="0"/>
          </a:p>
        </p:txBody>
      </p:sp>
      <p:sp>
        <p:nvSpPr>
          <p:cNvPr id="9" name="Text 7"/>
          <p:cNvSpPr/>
          <p:nvPr/>
        </p:nvSpPr>
        <p:spPr>
          <a:xfrm>
            <a:off x="5852160" y="1463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A623"/>
                </a:solidFill>
              </a:rPr>
              <a:t>NOM-first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852160" y="193852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D8E9F6"/>
                </a:solidFill>
              </a:rPr>
              <a:t>posicionamiento local frente a software internacional</a:t>
            </a:r>
            <a:endParaRPr lang="en-US" sz="880" dirty="0"/>
          </a:p>
        </p:txBody>
      </p:sp>
      <p:pic>
        <p:nvPicPr>
          <p:cNvPr id="11" name="Image 0" descr="/mnt/data/tech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868680"/>
            <a:ext cx="2926080" cy="4937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58368" y="3154680"/>
            <a:ext cx="694944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400" dirty="0">
                <a:solidFill>
                  <a:srgbClr val="D8E9F6"/>
                </a:solidFill>
              </a:rPr>
              <a:t>Estandariza criterios técnicos entre ingeniería, construcción y verificación.
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400" dirty="0">
                <a:solidFill>
                  <a:srgbClr val="D8E9F6"/>
                </a:solidFill>
              </a:rPr>
              <a:t>Reduce errores de captura, sobredimensionamiento y omisiones normativas.
</a:t>
            </a:r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400" dirty="0">
                <a:solidFill>
                  <a:srgbClr val="D8E9F6"/>
                </a:solidFill>
              </a:rPr>
              <a:t>Crea evidencia auditable: fórmula, variable, regla, resultado y responsable.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2</a:t>
            </a:r>
            <a:endParaRPr lang="en-US" sz="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Oportunidad de mercado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Espacio claro entre suites avanzadas y herramientas caseras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Mercado base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230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Proyectistas, contratistas, EPC, UVIE, mantenimiento industrial y universidades.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24200" y="132588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Dolor operativo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124200" y="1645920"/>
            <a:ext cx="230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Cálculos dispersos, reportes manuales y validación normativa no trazable.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54040" y="132588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Ventana LATAM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654040" y="1645920"/>
            <a:ext cx="2301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Modelo eléctrico reusable + paquetes normativos locales por país.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2816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Competidores de referencia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5A623">
              <a:alpha val="9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419856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ETAP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2468880" y="33375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5A623">
              <a:alpha val="9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42032" y="3419856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EasyPower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297680" y="33375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F5A623">
              <a:alpha val="95000"/>
            </a:srgbClr>
          </a:solidFill>
          <a:ln w="12700">
            <a:solidFill>
              <a:srgbClr val="F5A62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3419856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SKM</a:t>
            </a:r>
            <a:endParaRPr lang="en-US" sz="760" dirty="0"/>
          </a:p>
        </p:txBody>
      </p:sp>
      <p:sp>
        <p:nvSpPr>
          <p:cNvPr id="18" name="Shape 16"/>
          <p:cNvSpPr/>
          <p:nvPr/>
        </p:nvSpPr>
        <p:spPr>
          <a:xfrm>
            <a:off x="6126480" y="33375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5C6FF">
              <a:alpha val="95000"/>
            </a:srgbClr>
          </a:solidFill>
          <a:ln w="12700">
            <a:solidFill>
              <a:srgbClr val="25C6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9632" y="3419856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CYME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640080" y="408736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5C6FF">
              <a:alpha val="95000"/>
            </a:srgbClr>
          </a:solidFill>
          <a:ln w="12700">
            <a:solidFill>
              <a:srgbClr val="25C6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4169664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AutoCAD Electrical</a:t>
            </a:r>
            <a:endParaRPr lang="en-US" sz="760" dirty="0"/>
          </a:p>
        </p:txBody>
      </p:sp>
      <p:sp>
        <p:nvSpPr>
          <p:cNvPr id="22" name="Shape 20"/>
          <p:cNvSpPr/>
          <p:nvPr/>
        </p:nvSpPr>
        <p:spPr>
          <a:xfrm>
            <a:off x="2468880" y="408736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5C6FF">
              <a:alpha val="95000"/>
            </a:srgbClr>
          </a:solidFill>
          <a:ln w="12700">
            <a:solidFill>
              <a:srgbClr val="25C6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542032" y="4169664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Caneco</a:t>
            </a:r>
            <a:endParaRPr lang="en-US" sz="760" dirty="0"/>
          </a:p>
        </p:txBody>
      </p:sp>
      <p:sp>
        <p:nvSpPr>
          <p:cNvPr id="24" name="Shape 22"/>
          <p:cNvSpPr/>
          <p:nvPr/>
        </p:nvSpPr>
        <p:spPr>
          <a:xfrm>
            <a:off x="4297680" y="4087368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25C6FF">
              <a:alpha val="95000"/>
            </a:srgbClr>
          </a:solidFill>
          <a:ln w="12700">
            <a:solidFill>
              <a:srgbClr val="25C6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70832" y="4169664"/>
            <a:ext cx="127101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3101F"/>
                </a:solidFill>
              </a:rPr>
              <a:t>DIALux</a:t>
            </a:r>
            <a:endParaRPr lang="en-US" sz="760" dirty="0"/>
          </a:p>
        </p:txBody>
      </p:sp>
      <p:sp>
        <p:nvSpPr>
          <p:cNvPr id="26" name="Text 24"/>
          <p:cNvSpPr/>
          <p:nvPr/>
        </p:nvSpPr>
        <p:spPr>
          <a:xfrm>
            <a:off x="640080" y="48920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8E9F6"/>
                </a:solidFill>
              </a:rPr>
              <a:t>Ventaja estratégica: cumplimiento NOM, experiencia móvil, memorias automáticas e IA con evidencia técnica.</a:t>
            </a:r>
            <a:endParaRPr lang="en-US" sz="1600" dirty="0"/>
          </a:p>
        </p:txBody>
      </p:sp>
      <p:pic>
        <p:nvPicPr>
          <p:cNvPr id="27" name="Image 0" descr="/mnt/data/abstract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3960" y="1051560"/>
            <a:ext cx="2834640" cy="475488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3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detail_futuristic_abstract_technology_scen_batch_3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Posicionamiento competitivo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No competir por complejidad; competir por adopción, evidencia y cumplimiento</a:t>
            </a:r>
            <a:endParaRPr lang="en-US" sz="98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94360" y="1417320"/>
            <a:ext cx="3291840" cy="4160520"/>
          </a:xfrm>
          <a:prstGeom prst="rect">
            <a:avLst/>
          </a:prstGeom>
          <a:solidFill>
            <a:srgbClr val="03101F">
              <a:alpha val="90000"/>
            </a:srgbClr>
          </a:solidFill>
          <a:ln w="12700">
            <a:solidFill>
              <a:srgbClr val="25C6FF">
                <a:alpha val="3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Software internacional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240280"/>
            <a:ext cx="26060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Potente pero costoso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Curva de aprendizaje alta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Normativa mexicana no nativa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36592" y="23774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5A623"/>
                </a:solidFill>
              </a:rPr>
              <a:t>NÓMICA</a:t>
            </a:r>
            <a:endParaRPr lang="en-US" sz="2900" dirty="0"/>
          </a:p>
        </p:txBody>
      </p:sp>
      <p:sp>
        <p:nvSpPr>
          <p:cNvPr id="10" name="Text 7"/>
          <p:cNvSpPr/>
          <p:nvPr/>
        </p:nvSpPr>
        <p:spPr>
          <a:xfrm>
            <a:off x="4206240" y="29260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Capa digital de ingeniería + cumplimiento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75320" y="1417320"/>
            <a:ext cx="3291840" cy="4160520"/>
          </a:xfrm>
          <a:prstGeom prst="rect">
            <a:avLst/>
          </a:prstGeom>
          <a:solidFill>
            <a:srgbClr val="03101F">
              <a:alpha val="90000"/>
            </a:srgbClr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03920" y="16916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Hojas internas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503920" y="2240280"/>
            <a:ext cx="260604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Flexibles pero frágiles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Sin trazabilidad
</a:t>
            </a:r>
            <a:pPr indent="0" marL="0">
              <a:buNone/>
            </a:pPr>
            <a:r>
              <a:rPr lang="en-US" sz="12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D8E9F6"/>
                </a:solidFill>
              </a:rPr>
              <a:t>Dependencia de personal clave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4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Arquitectura de producto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Una plataforma modular con motor eléctrico, motor normativo e IA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17904"/>
            <a:ext cx="1773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Experiencia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iPhone · iPad · Mac · Web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15468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7832" y="1517904"/>
            <a:ext cx="1773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API / BFF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seguridad y permisos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62356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96712" y="1517904"/>
            <a:ext cx="1773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Servicios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proyectos · documentos · catálogos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65592" y="1517904"/>
            <a:ext cx="17739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Datos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 · S3 · Vector DB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06040" y="1764792"/>
            <a:ext cx="5486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74920" y="1764792"/>
            <a:ext cx="5486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543800" y="1764792"/>
            <a:ext cx="5486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51560" y="27889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4712" y="28895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Motor eléctrico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Rust · determinístico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03320" y="27889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76472" y="28895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Motor normativo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reglas versionadas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55080" y="27889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8895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Capa 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RAG + herramientas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06840" y="27889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079992" y="2889504"/>
            <a:ext cx="191109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Nube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AWS / Azure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2960" y="475488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E9F6"/>
                </a:solidFill>
              </a:rPr>
              <a:t>Principio rector: la IA propone, el motor calcula, el motor normativo valida y el ingeniero aprueba.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5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Diseño funcional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Flujo de negocio: de carga a expediente técnico emitido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Proyecto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58568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Cargas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01568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31336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04488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Tableros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74336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404104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77256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Alimentadores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47104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76872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50024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Protecciones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119872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549640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22792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Validación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692640" y="2084832"/>
            <a:ext cx="429768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22408" y="182880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95560" y="1929384"/>
            <a:ext cx="99669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Memoria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68680" y="3154680"/>
            <a:ext cx="672084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Entradas: datos eléctricos, condiciones ambientales, longitudes, tensión, fases, sistema y tipo de carga.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Procesamiento: normalización de unidades, cálculo iterativo, validaciones cruzadas y evidencia.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Resultados: conductor, protección, ducto, caída de tensión, observaciones NOM, memoria PDF y Excel.</a:t>
            </a:r>
            <a:endParaRPr lang="en-US" sz="1300" dirty="0"/>
          </a:p>
        </p:txBody>
      </p:sp>
      <p:pic>
        <p:nvPicPr>
          <p:cNvPr id="26" name="Image 0" descr="/mnt/data/cloud_verti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1115568"/>
            <a:ext cx="3429000" cy="493776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6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Motor de cálculo eléctrico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Cálculos reproducibles con variables, fórmulas y supuestos auditables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8132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58191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Conductores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Ampacidad base, correcciones, terminales, paralelos.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89120" y="148132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62272" y="158191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Caída de tensión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43484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Monofásica, trifásica, acumulada y por tramo.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01000" y="148132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58191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Canalizaciones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0" y="20116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Ocupación, áreas internas, reserva y compatibilidad.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99008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09067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Protecciones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Selección, capacidad interruptiva y coordinación básica.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99008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309067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Cortocircuito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3484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Impedancias equivalentes, fallas máximas y mínimas.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01000" y="299008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74152" y="3090672"/>
            <a:ext cx="24597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Tierra física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046720" y="3520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D8E9F6"/>
                </a:solidFill>
              </a:rPr>
              <a:t>Conductor, electrodos, uniones y sistemas derivados.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Fórmula núcleo: I corregida = I tabla × F temperatura × F agrupamiento × F otros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7</a:t>
            </a:r>
            <a:endParaRPr lang="en-US" sz="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Motor normativo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Reglas estructuradas: artículo → condición → evaluación → evidencia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" y="1517904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Clasificador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 aplicabilidad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2900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17904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Reglas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versionadas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71032" y="1517904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Evaluación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determinística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366760" y="141732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39912" y="1517904"/>
            <a:ext cx="16824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Evidencia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y observación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1737360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1737360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726680" y="1737360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86868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Cumple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2918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Resultado dentro de umbrales y evidencia completa.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2900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Advertencia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429000" y="32918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Existe margen bajo, criterio incompleto o dato sensible.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8932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No cumple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89320" y="32918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Violación de regla técnica o normativa estructurada.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49640" y="2971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No evaluable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549640" y="3291840"/>
            <a:ext cx="2331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Falta información mínima o soporte documental.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60120" y="50749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Recomendación clave: comité técnico de reglas y control de cambios para cada versión normativa.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8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tech_futuristic_infographic_scene_concept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Inteligencia Artificial aplicada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Asistente experto, pero con cálculo determinístico como fuente de verdad</a:t>
            </a:r>
            <a:endParaRPr lang="en-US" sz="980" dirty="0"/>
          </a:p>
        </p:txBody>
      </p:sp>
      <p:sp>
        <p:nvSpPr>
          <p:cNvPr id="5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417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Arquitectura IA recomendada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713232" y="1920240"/>
            <a:ext cx="4937760" cy="2240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RAG normativo con fuentes autorizadas y versionadas.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Herramientas para ejecutar cálculo, leer proyecto y evaluar reglas.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Respuestas con fundamento, límites, nivel de confianza y acciones.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Bloqueo ante falta de evidencia o riesgo de alucinación.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13232" y="4892040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A623"/>
                </a:solidFill>
              </a:rPr>
              <a:t>IA propone → motor calcula → norma valida → ingeniero aprueba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9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UX/UI multiplataforma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Una experiencia distinta por contexto: oficina, campo y revisión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iPhone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" y="1737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Consulta, captura de placa, observaciones, evidencia y cálculos rápidos.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38328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iPad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383280" y="1737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Editor táctil, Apple Pencil, revisión de planos, trabajo offline y firma.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8076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Mac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080760" y="1737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Modelado completo, tablas densas, unifilares, curvas, exportaciones.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778240" y="141732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Web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78240" y="1737360"/>
            <a:ext cx="24688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Colaboración, administración, revisión ejecutiva, usuarios y API.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012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327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Crear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103120" y="3895344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74320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1635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Modelar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86200" y="3895344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2628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Calcular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3895344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30936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Validar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52360" y="3895344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09244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6559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Corregir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235440" y="3895344"/>
            <a:ext cx="6400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75520" y="3657600"/>
            <a:ext cx="1143000" cy="475488"/>
          </a:xfrm>
          <a:prstGeom prst="roundRect">
            <a:avLst>
              <a:gd name="adj" fmla="val 15385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8672" y="3758184"/>
            <a:ext cx="996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Emitir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14400" y="502920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D8E9F6"/>
                </a:solidFill>
              </a:rPr>
              <a:t>Diseño visual: dark mode eléctrico, acentos cobre/cian, severidad por color y enfoque en trazabilidad.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10</a:t>
            </a:r>
            <a:endParaRPr lang="en-US" sz="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Base de datos y modelo de información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El plano es una vista del modelo eléctrico, no un dibujo aislado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3258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42646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Organization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0" y="13258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16352" y="142646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Project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90872" y="142646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Version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92240" y="1325880"/>
            <a:ext cx="192024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1426464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Electrical Model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823960" y="1325880"/>
            <a:ext cx="1554480" cy="475488"/>
          </a:xfrm>
          <a:prstGeom prst="roundRect">
            <a:avLst>
              <a:gd name="adj" fmla="val 15385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97112" y="142646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Reports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423160" y="1563624"/>
            <a:ext cx="3200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297680" y="1563624"/>
            <a:ext cx="3200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172200" y="1563624"/>
            <a:ext cx="32004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1563624"/>
            <a:ext cx="41148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288036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Transaccional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320040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PostgreSQL: proyectos, versiones, nodos, circuitos, cargas y reglas.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36720" y="288036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Documental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236720" y="320040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Object Storage: PDFs, evidencias, catálogos, imágenes y entregables.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559040" y="2880360"/>
            <a:ext cx="313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Semántico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559040" y="3200400"/>
            <a:ext cx="3093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Vector DB + búsqueda: artículos, reglas, manuales autorizados y soporte IA.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14400" y="50749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Todo resultado conserva: motor, norma, catálogo, entradas, fórmula, usuario, fecha y hash.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11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MVP recomendado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Validar valor en baja tensión industrial antes de escalar a potencia avanzada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417320"/>
            <a:ext cx="6492240" cy="2423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320" dirty="0">
                <a:solidFill>
                  <a:srgbClr val="D8E9F6"/>
                </a:solidFill>
              </a:rPr>
              <a:t>Cargas, demanda, tableros, alimentadores y circuitos derivados.
</a:t>
            </a:r>
            <a:pPr indent="0" marL="0">
              <a:buNone/>
            </a:pPr>
            <a:r>
              <a:rPr lang="en-US" sz="132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320" dirty="0">
                <a:solidFill>
                  <a:srgbClr val="D8E9F6"/>
                </a:solidFill>
              </a:rPr>
              <a:t>Conductores, correcciones, caída de tensión, canalizaciones y protecciones básicas.
</a:t>
            </a:r>
            <a:pPr indent="0" marL="0">
              <a:buNone/>
            </a:pPr>
            <a:r>
              <a:rPr lang="en-US" sz="132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320" dirty="0">
                <a:solidFill>
                  <a:srgbClr val="D8E9F6"/>
                </a:solidFill>
              </a:rPr>
              <a:t>Matriz de cumplimiento, observaciones, memoria PDF, Excel y control de versión.
</a:t>
            </a:r>
            <a:pPr indent="0" marL="0">
              <a:buNone/>
            </a:pPr>
            <a:r>
              <a:rPr lang="en-US" sz="1320" b="1" dirty="0">
                <a:solidFill>
                  <a:srgbClr val="F5A623"/>
                </a:solidFill>
              </a:rPr>
              <a:t>4. </a:t>
            </a:r>
            <a:pPr indent="0" marL="0">
              <a:buNone/>
            </a:pPr>
            <a:r>
              <a:rPr lang="en-US" sz="1320" dirty="0">
                <a:solidFill>
                  <a:srgbClr val="D8E9F6"/>
                </a:solidFill>
              </a:rPr>
              <a:t>Asistente IA documental con fuentes y generación de memoria técnica.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7909560" y="1417320"/>
            <a:ext cx="2423160" cy="2423160"/>
          </a:xfrm>
          <a:prstGeom prst="arc">
            <a:avLst/>
          </a:prstGeom>
          <a:noFill/>
          <a:ln w="63500">
            <a:solidFill>
              <a:srgbClr val="F5A623">
                <a:alpha val="9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01584" y="19202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12–16</a:t>
            </a:r>
            <a:endParaRPr lang="en-US" sz="2700" dirty="0"/>
          </a:p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semanas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7973568" y="290779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Discovery + PoC técnico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512064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5A623"/>
                </a:solidFill>
              </a:rPr>
              <a:t>Criterio de gate: 20 empresas piloto, 100 usuarios activos, 15 proyectos completos y conversión ≥40%.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12</a:t>
            </a:r>
            <a:endParaRPr lang="en-US" sz="6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Roadmap ejecutivo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Construir en capas: fundamento, plataforma, potencia y gemelo digital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6362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7724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0–8 meses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8E9F6"/>
                </a:solidFill>
              </a:rPr>
              <a:t>MVP, cálculos BT, NOM inicial, reportes.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2148840" y="1655064"/>
            <a:ext cx="141732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566160" y="1463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39312" y="156362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1188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9–16 meses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23317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8E9F6"/>
                </a:solidFill>
              </a:rPr>
              <a:t>Diagramas, catálogos, Apple apps, firma, IA.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4983480" y="1655064"/>
            <a:ext cx="141732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0" y="1463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56362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4652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17–28 meses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8E9F6"/>
                </a:solidFill>
              </a:rPr>
              <a:t>Cortocircuito avanzado, coordinación, tierra, BIM.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7818120" y="1655064"/>
            <a:ext cx="1417320" cy="0"/>
          </a:xfrm>
          <a:prstGeom prst="line">
            <a:avLst/>
          </a:prstGeom>
          <a:noFill/>
          <a:ln w="17780">
            <a:solidFill>
              <a:srgbClr val="25C6FF">
                <a:alpha val="85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235440" y="1463040"/>
            <a:ext cx="1417320" cy="384048"/>
          </a:xfrm>
          <a:prstGeom prst="roundRect">
            <a:avLst>
              <a:gd name="adj" fmla="val 19048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08592" y="1563624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Fase 4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9281160" y="1993392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623"/>
                </a:solidFill>
              </a:rPr>
              <a:t>29–48 meses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81160" y="2331720"/>
            <a:ext cx="2057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D8E9F6"/>
                </a:solidFill>
              </a:rPr>
              <a:t>Gemelo digital, inspección virtual, marketplace, LATAM.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868680" y="50749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Regla de gobierno: no adelantar módulos de alto riesgo sin benchmark técnico y validación externa.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13</a:t>
            </a:r>
            <a:endParaRPr lang="en-US" sz="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Modelo de negocio SaaS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Ingresos recurrentes + servicios técnicos complementarios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517904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Estudiante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$149–249/mes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16552" y="1517904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Individual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3891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$699–899/mes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01000" y="141732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74152" y="1517904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Profesional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0467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$1,299–1,799/mes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274320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061A2E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2843784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Equipo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$1,099–1,499 usuario/mes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343400" y="2743200"/>
            <a:ext cx="2057400" cy="411480"/>
          </a:xfrm>
          <a:prstGeom prst="roundRect">
            <a:avLst>
              <a:gd name="adj" fmla="val 17778"/>
            </a:avLst>
          </a:prstGeom>
          <a:solidFill>
            <a:srgbClr val="41576D"/>
          </a:solidFill>
          <a:ln w="12700">
            <a:solidFill>
              <a:srgbClr val="25C6FF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16552" y="2843784"/>
            <a:ext cx="1911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Enterprise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3291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</a:rPr>
              <a:t>$180k–600k/año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" y="4709160"/>
            <a:ext cx="9966960" cy="777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250" dirty="0">
                <a:solidFill>
                  <a:srgbClr val="D8E9F6"/>
                </a:solidFill>
              </a:rPr>
              <a:t>Add-ons: IA, cortocircuito, coordinación, arco eléctrico, BIM, firma y catálogos premium.
</a:t>
            </a:r>
            <a:pPr indent="0" marL="0">
              <a:buNone/>
            </a:pPr>
            <a:r>
              <a:rPr lang="en-US" sz="125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250" dirty="0">
                <a:solidFill>
                  <a:srgbClr val="D8E9F6"/>
                </a:solidFill>
              </a:rPr>
              <a:t>Servicios: migración de hojas, reglas corporativas, implementación, capacitación y soporte premium.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14</a:t>
            </a:r>
            <a:endParaRPr lang="en-US" sz="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Proyección financiera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Escenarios de ARR a cinco años y punto de equilibrio operativo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Conservador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C6FF"/>
                </a:solidFill>
              </a:rPr>
              <a:t>$22.8 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9F6"/>
                </a:solidFill>
              </a:rPr>
              <a:t>Break-even año 4–5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Medio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</a:rPr>
              <a:t>$105.6 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9F6"/>
                </a:solidFill>
              </a:rPr>
              <a:t>Break-even año 2–3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0" y="150876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Agresivo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0" y="2011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C6FF"/>
                </a:solidFill>
              </a:rPr>
              <a:t>$412.7 M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0" y="265176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9F6"/>
                </a:solidFill>
              </a:rPr>
              <a:t>Requiere ejecución comercial fuerte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10332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8E9F6"/>
                </a:solidFill>
              </a:rPr>
              <a:t>Punto de equilibrio indicativo: ~1,386 usuarios equivalentes, asumiendo MXN $15 M de costos fijos anuales y margen bruto 82%.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4846320"/>
            <a:ext cx="9875520" cy="685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220" dirty="0">
                <a:solidFill>
                  <a:srgbClr val="D8E9F6"/>
                </a:solidFill>
              </a:rPr>
              <a:t>MVP eficiente: MXN $9–14 M. Plataforma profesional: MXN $18–30 M acumulados.
</a:t>
            </a:r>
            <a:pPr indent="0" marL="0">
              <a:buNone/>
            </a:pPr>
            <a:r>
              <a:rPr lang="en-US" sz="122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220" dirty="0">
                <a:solidFill>
                  <a:srgbClr val="D8E9F6"/>
                </a:solidFill>
              </a:rPr>
              <a:t>Suite avanzada con módulos de potencia: MXN $35–55 M acumulados.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15</a:t>
            </a:r>
            <a:endParaRPr lang="en-US" sz="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 App Store y adquisición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Entrada móvil para captura de campo, consulta normativa y adopción freemium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pic>
        <p:nvPicPr>
          <p:cNvPr id="5" name="Image 0" descr="/mnt/data/a_sleek_high_tech_infographic_conceptual_3d_dig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25880"/>
            <a:ext cx="4754880" cy="26791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3232" y="1417320"/>
            <a:ext cx="5257800" cy="2651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8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280" dirty="0">
                <a:solidFill>
                  <a:srgbClr val="D8E9F6"/>
                </a:solidFill>
              </a:rPr>
              <a:t>App gratuita con login, cálculos limitados y upgrades por plan.
</a:t>
            </a:r>
            <a:pPr indent="0" marL="0">
              <a:buNone/>
            </a:pPr>
            <a:r>
              <a:rPr lang="en-US" sz="128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280" dirty="0">
                <a:solidFill>
                  <a:srgbClr val="D8E9F6"/>
                </a:solidFill>
              </a:rPr>
              <a:t>ASO: cálculo eléctrico, NOM eléctrica, caída de tensión, conductores, memoria de cálculo.
</a:t>
            </a:r>
            <a:pPr indent="0" marL="0">
              <a:buNone/>
            </a:pPr>
            <a:r>
              <a:rPr lang="en-US" sz="128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280" dirty="0">
                <a:solidFill>
                  <a:srgbClr val="D8E9F6"/>
                </a:solidFill>
              </a:rPr>
              <a:t>Páginas por segmento: proyectistas, contratistas, EPC, mantenimiento, estudiantes y supervisores.
</a:t>
            </a:r>
            <a:pPr indent="0" marL="0">
              <a:buNone/>
            </a:pPr>
            <a:r>
              <a:rPr lang="en-US" sz="1280" b="1" dirty="0">
                <a:solidFill>
                  <a:srgbClr val="F5A623"/>
                </a:solidFill>
              </a:rPr>
              <a:t>4. </a:t>
            </a:r>
            <a:pPr indent="0" marL="0">
              <a:buNone/>
            </a:pPr>
            <a:r>
              <a:rPr lang="en-US" sz="1280" dirty="0">
                <a:solidFill>
                  <a:srgbClr val="D8E9F6"/>
                </a:solidFill>
              </a:rPr>
              <a:t>Adquisición: webinars técnicos, plantillas gratuitas, universidades, fabricantes, eventos y referidos.</a:t>
            </a:r>
            <a:endParaRPr lang="en-US" sz="1280" dirty="0"/>
          </a:p>
        </p:txBody>
      </p:sp>
      <p:sp>
        <p:nvSpPr>
          <p:cNvPr id="7" name="Text 4"/>
          <p:cNvSpPr/>
          <p:nvPr/>
        </p:nvSpPr>
        <p:spPr>
          <a:xfrm>
            <a:off x="731520" y="4983480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</a:rPr>
              <a:t>Canal iOS = confianza, visibilidad y captura en campo; Web = operación empresarial y colaboración.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16</a:t>
            </a:r>
            <a:endParaRPr lang="en-US" sz="6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310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995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16. Riesgos técnicos y mitigación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7086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95ABC1"/>
                </a:solidFill>
              </a:rPr>
              <a:t>El activo central será la confianza: exactitud, trazabilidad y control normativo</a:t>
            </a:r>
            <a:endParaRPr lang="en-US" sz="980" dirty="0"/>
          </a:p>
        </p:txBody>
      </p:sp>
      <p:sp>
        <p:nvSpPr>
          <p:cNvPr id="4" name="Shape 2"/>
          <p:cNvSpPr/>
          <p:nvPr/>
        </p:nvSpPr>
        <p:spPr>
          <a:xfrm>
            <a:off x="502920" y="1060704"/>
            <a:ext cx="1920240" cy="0"/>
          </a:xfrm>
          <a:prstGeom prst="line">
            <a:avLst/>
          </a:prstGeom>
          <a:noFill/>
          <a:ln w="2794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Interpretación NOM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8892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Comité técnico + revisión doble + casos de prueba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63640" y="1325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Error de cálculo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366760" y="1325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Motor Rust + golden files + benchmark externo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IA alucinando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RAG + citas + bloqueo sin evidencia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263640" y="2468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Derechos de autor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66760" y="2468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Licencias + procedencia de tablas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Cambio normativo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8892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Reglas versionadas y vigencias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263640" y="361188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</a:rPr>
              <a:t>Responsabilidad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66760" y="36118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9F6"/>
                </a:solidFill>
              </a:rPr>
              <a:t>Términos, evidencia y firma profesional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653796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7891A6"/>
                </a:solidFill>
              </a:rPr>
              <a:t>Plan maestro · Plataforma SaaS ingeniería eléctrica · 17</a:t>
            </a:r>
            <a:endParaRPr lang="en-US" sz="6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wide_cinematic_industrial_scene_with_a_strong_d_batch_1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0515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Decisión recomendada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713232" y="1700784"/>
            <a:ext cx="5212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A623"/>
                </a:solidFill>
              </a:rPr>
              <a:t>Autorizar Discovery + Proof of Concept técnico de 12 a 16 semanas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49808" y="2788920"/>
            <a:ext cx="5303520" cy="2148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1.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30 entrevistas con usuarios objetivo y 5 cartas de intención.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2.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Prototipo UX + modelo de datos + motor funcional de conductores y caída de tensión.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3.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25–50 reglas normativas estructuradas con evidencia y generación de memoria.
</a:t>
            </a:r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</a:rPr>
              <a:t>4. </a:t>
            </a:r>
            <a:pPr indent="0" marL="0">
              <a:buNone/>
            </a:pPr>
            <a:r>
              <a:rPr lang="en-US" sz="1300" dirty="0">
                <a:solidFill>
                  <a:srgbClr val="D8E9F6"/>
                </a:solidFill>
              </a:rPr>
              <a:t>Presupuesto definitivo MVP, riesgos legales y estrategia de licenciamiento.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49808" y="5669280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Cierre: construir una ventaja local difícil de replicar combinando ingeniería, NOM, IA y documentación auditada.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Grupo ESCO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Maestro – Plataforma SaaS de Ingeniería Eléctrica</dc:title>
  <dc:subject>Plan maestro plataforma eléctrica NOM</dc:subject>
  <dc:creator>OpenAI</dc:creator>
  <cp:lastModifiedBy>OpenAI</cp:lastModifiedBy>
  <cp:revision>1</cp:revision>
  <dcterms:created xsi:type="dcterms:W3CDTF">2026-07-24T20:36:39Z</dcterms:created>
  <dcterms:modified xsi:type="dcterms:W3CDTF">2026-07-24T20:36:39Z</dcterms:modified>
</cp:coreProperties>
</file>